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0" r:id="rId3"/>
    <p:sldId id="289" r:id="rId4"/>
    <p:sldId id="261" r:id="rId5"/>
    <p:sldId id="263" r:id="rId6"/>
    <p:sldId id="264" r:id="rId7"/>
    <p:sldId id="279" r:id="rId8"/>
    <p:sldId id="286" r:id="rId9"/>
    <p:sldId id="269" r:id="rId10"/>
    <p:sldId id="287" r:id="rId11"/>
    <p:sldId id="271" r:id="rId12"/>
    <p:sldId id="288" r:id="rId13"/>
    <p:sldId id="25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2EA229-1E7B-4CB3-A395-69497E247652}" type="datetimeFigureOut">
              <a:rPr lang="en-US" smtClean="0"/>
              <a:pPr/>
              <a:t>12/18/2025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539DE0-B47B-4220-B469-5FCE76CAAA44}" type="slidenum">
              <a:rPr lang="en-US" smtClean="0"/>
              <a:pPr/>
              <a:t>‹#›</a:t>
            </a:fld>
            <a:endParaRPr lang="en-US"/>
          </a:p>
        </p:txBody>
      </p:sp>
    </p:spTree>
    <p:extLst>
      <p:ext uri="{BB962C8B-B14F-4D97-AF65-F5344CB8AC3E}">
        <p14:creationId xmlns:p14="http://schemas.microsoft.com/office/powerpoint/2010/main" val="3034343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6539DE0-B47B-4220-B469-5FCE76CAAA44}" type="slidenum">
              <a:rPr lang="en-US" smtClean="0"/>
              <a:pPr/>
              <a:t>1</a:t>
            </a:fld>
            <a:endParaRPr lang="en-US"/>
          </a:p>
        </p:txBody>
      </p:sp>
    </p:spTree>
    <p:extLst>
      <p:ext uri="{BB962C8B-B14F-4D97-AF65-F5344CB8AC3E}">
        <p14:creationId xmlns:p14="http://schemas.microsoft.com/office/powerpoint/2010/main" val="3422629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B025954-12E0-4FF4-A387-8187816ECC75}" type="datetime1">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6276-0AD7-4494-991C-684D36EA0CC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05B157-DFC5-4C11-921C-98380F6E40EA}" type="datetime1">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1400"/>
            </a:lvl1pPr>
          </a:lstStyle>
          <a:p>
            <a:fld id="{B1FC6276-0AD7-4494-991C-684D36EA0CC2}"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B6A3EA-CFB2-4E67-927E-D5A37D2B3459}" type="datetime1">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6276-0AD7-4494-991C-684D36EA0CC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2641B1-C3C0-48BD-BA1D-21332088F4B1}" type="datetime1">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C6276-0AD7-4494-991C-684D36EA0CC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16CA9BF-5B30-4E4E-AD58-B39AA4AD9906}" type="datetime1">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FC6276-0AD7-4494-991C-684D36EA0CC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FFC627-A291-4B08-9002-B05658228BE2}" type="datetime1">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FC6276-0AD7-4494-991C-684D36EA0CC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EC1F6F-5440-4006-81DE-A0135A0470CD}" type="datetime1">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FC6276-0AD7-4494-991C-684D36EA0CC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0F8A5E-AEA7-424F-99CD-D7AADC44D16D}" type="datetime1">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C6276-0AD7-4494-991C-684D36EA0CC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2A96A9-217E-4D7E-B230-0746AF59DCD5}" type="datetime1">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C6276-0AD7-4494-991C-684D36EA0CC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0DC9B9-B65B-4480-B29A-A2F83666F526}" type="datetime1">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6276-0AD7-4494-991C-684D36EA0CC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F09F48-276F-4B71-86AF-2190447F1AAD}" type="datetime1">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6276-0AD7-4494-991C-684D36EA0CC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51184-A224-4CC4-87AC-3ED5AACC7336}" type="datetime1">
              <a:rPr lang="en-US" smtClean="0"/>
              <a:pPr/>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B1FC6276-0AD7-4494-991C-684D36EA0CC2}"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124744"/>
            <a:ext cx="7772400" cy="1800200"/>
          </a:xfrm>
        </p:spPr>
        <p:txBody>
          <a:bodyPr>
            <a:normAutofit fontScale="90000"/>
          </a:bodyPr>
          <a:lstStyle/>
          <a:p>
            <a:r>
              <a:rPr lang="en-US" b="1" dirty="0"/>
              <a:t> Automated Grading </a:t>
            </a:r>
            <a:br>
              <a:rPr lang="en-US" b="1" dirty="0"/>
            </a:br>
            <a:r>
              <a:rPr lang="en-US" b="1" dirty="0"/>
              <a:t>System of OMR &amp; Handwritten Text</a:t>
            </a:r>
          </a:p>
        </p:txBody>
      </p:sp>
      <p:sp>
        <p:nvSpPr>
          <p:cNvPr id="3" name="Subtitle 2"/>
          <p:cNvSpPr>
            <a:spLocks noGrp="1"/>
          </p:cNvSpPr>
          <p:nvPr>
            <p:ph type="subTitle" idx="1"/>
          </p:nvPr>
        </p:nvSpPr>
        <p:spPr>
          <a:xfrm>
            <a:off x="1371600" y="3886200"/>
            <a:ext cx="6656784" cy="1847056"/>
          </a:xfrm>
        </p:spPr>
        <p:txBody>
          <a:bodyPr>
            <a:normAutofit/>
          </a:bodyPr>
          <a:lstStyle/>
          <a:p>
            <a:pPr algn="r"/>
            <a:r>
              <a:rPr lang="en-US" sz="2400" b="1" dirty="0">
                <a:solidFill>
                  <a:schemeClr val="tx1"/>
                </a:solidFill>
              </a:rPr>
              <a:t>Team members (Group 64):</a:t>
            </a:r>
          </a:p>
          <a:p>
            <a:pPr algn="r"/>
            <a:r>
              <a:rPr lang="en-US" sz="2400">
                <a:solidFill>
                  <a:schemeClr val="tx1"/>
                </a:solidFill>
              </a:rPr>
              <a:t>Darshan Hassan Shivakumar (</a:t>
            </a:r>
            <a:r>
              <a:rPr lang="en-US" sz="2400" b="1">
                <a:solidFill>
                  <a:schemeClr val="tx1"/>
                </a:solidFill>
              </a:rPr>
              <a:t>12300360</a:t>
            </a:r>
            <a:r>
              <a:rPr lang="en-US" sz="2400">
                <a:solidFill>
                  <a:schemeClr val="tx1"/>
                </a:solidFill>
              </a:rPr>
              <a:t>)</a:t>
            </a:r>
            <a:endParaRPr lang="en-US" sz="2400" dirty="0">
              <a:solidFill>
                <a:schemeClr val="tx1"/>
              </a:solidFill>
            </a:endParaRPr>
          </a:p>
          <a:p>
            <a:pPr algn="r"/>
            <a:r>
              <a:rPr lang="en-US" sz="2400" dirty="0">
                <a:solidFill>
                  <a:schemeClr val="tx1"/>
                </a:solidFill>
              </a:rPr>
              <a:t>Sachin Poojary (</a:t>
            </a:r>
            <a:r>
              <a:rPr lang="en-US" sz="2400" b="1" dirty="0">
                <a:solidFill>
                  <a:schemeClr val="tx1"/>
                </a:solidFill>
              </a:rPr>
              <a:t>12300743</a:t>
            </a:r>
            <a:r>
              <a:rPr lang="en-US" sz="2400" dirty="0">
                <a:solidFill>
                  <a:schemeClr val="tx1"/>
                </a:solidFill>
              </a:rPr>
              <a:t>)</a:t>
            </a:r>
          </a:p>
          <a:p>
            <a:pPr algn="r"/>
            <a:r>
              <a:rPr lang="en-US" sz="2400" dirty="0">
                <a:solidFill>
                  <a:schemeClr val="tx1"/>
                </a:solidFill>
              </a:rPr>
              <a:t>Nabeel Ahmad (</a:t>
            </a:r>
            <a:r>
              <a:rPr lang="en-US" sz="2400" b="1" dirty="0">
                <a:solidFill>
                  <a:schemeClr val="tx1"/>
                </a:solidFill>
              </a:rPr>
              <a:t>12303956</a:t>
            </a:r>
            <a:r>
              <a:rPr lang="en-US" sz="2400" dirty="0">
                <a:solidFill>
                  <a:schemeClr val="tx1"/>
                </a:solidFill>
              </a:rPr>
              <a:t>)</a:t>
            </a:r>
          </a:p>
        </p:txBody>
      </p:sp>
      <p:pic>
        <p:nvPicPr>
          <p:cNvPr id="4" name="Picture 3" descr="OIP.jpeg"/>
          <p:cNvPicPr>
            <a:picLocks noChangeAspect="1"/>
          </p:cNvPicPr>
          <p:nvPr/>
        </p:nvPicPr>
        <p:blipFill>
          <a:blip r:embed="rId3" cstate="print"/>
          <a:stretch>
            <a:fillRect/>
          </a:stretch>
        </p:blipFill>
        <p:spPr>
          <a:xfrm>
            <a:off x="6381750" y="0"/>
            <a:ext cx="2762250" cy="857250"/>
          </a:xfrm>
          <a:prstGeom prst="rect">
            <a:avLst/>
          </a:prstGeom>
        </p:spPr>
      </p:pic>
      <p:sp>
        <p:nvSpPr>
          <p:cNvPr id="5" name="Slide Number Placeholder 4"/>
          <p:cNvSpPr>
            <a:spLocks noGrp="1"/>
          </p:cNvSpPr>
          <p:nvPr>
            <p:ph type="sldNum" sz="quarter" idx="12"/>
          </p:nvPr>
        </p:nvSpPr>
        <p:spPr/>
        <p:txBody>
          <a:bodyPr/>
          <a:lstStyle/>
          <a:p>
            <a:fld id="{B1FC6276-0AD7-4494-991C-684D36EA0CC2}"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lvl="0" algn="l"/>
            <a:r>
              <a:rPr lang="en-US" sz="3200" dirty="0">
                <a:solidFill>
                  <a:srgbClr val="1557FF"/>
                </a:solidFill>
                <a:latin typeface="Archivo Black"/>
                <a:sym typeface="Archivo Black"/>
              </a:rPr>
              <a:t>Introduction</a:t>
            </a:r>
            <a:endParaRPr lang="en-US" sz="3200" dirty="0"/>
          </a:p>
        </p:txBody>
      </p:sp>
      <p:sp>
        <p:nvSpPr>
          <p:cNvPr id="3" name="Content Placeholder 2"/>
          <p:cNvSpPr>
            <a:spLocks noGrp="1"/>
          </p:cNvSpPr>
          <p:nvPr>
            <p:ph idx="1"/>
          </p:nvPr>
        </p:nvSpPr>
        <p:spPr>
          <a:xfrm>
            <a:off x="467544" y="1556792"/>
            <a:ext cx="8352928" cy="4824536"/>
          </a:xfrm>
        </p:spPr>
        <p:txBody>
          <a:bodyPr>
            <a:normAutofit/>
          </a:bodyPr>
          <a:lstStyle/>
          <a:p>
            <a:r>
              <a:rPr lang="en-US" sz="2000" dirty="0"/>
              <a:t>An automated grading system for Optical </a:t>
            </a:r>
            <a:br>
              <a:rPr lang="en-US" sz="2000" dirty="0"/>
            </a:br>
            <a:r>
              <a:rPr lang="en-US" sz="2000" dirty="0"/>
              <a:t>Mark Recognition (OMR) and handwritten </a:t>
            </a:r>
            <a:br>
              <a:rPr lang="en-US" sz="2000" dirty="0"/>
            </a:br>
            <a:r>
              <a:rPr lang="en-US" sz="2000" dirty="0"/>
              <a:t>text is an advanced tool designed to </a:t>
            </a:r>
            <a:br>
              <a:rPr lang="en-US" sz="2000" dirty="0"/>
            </a:br>
            <a:r>
              <a:rPr lang="en-US" sz="2000" dirty="0"/>
              <a:t>streamline the evaluation process of </a:t>
            </a:r>
            <a:br>
              <a:rPr lang="en-US" sz="2000" dirty="0"/>
            </a:br>
            <a:r>
              <a:rPr lang="en-US" sz="2000" dirty="0"/>
              <a:t>student assessments.</a:t>
            </a:r>
          </a:p>
          <a:p>
            <a:endParaRPr lang="en-US" sz="2400" dirty="0"/>
          </a:p>
          <a:p>
            <a:r>
              <a:rPr lang="en-US" sz="2000" dirty="0"/>
              <a:t>By using </a:t>
            </a:r>
            <a:r>
              <a:rPr lang="en-US" sz="2000" dirty="0" err="1"/>
              <a:t>OpenCV</a:t>
            </a:r>
            <a:r>
              <a:rPr lang="en-US" sz="2000" dirty="0"/>
              <a:t> library &amp; OCR technologies, </a:t>
            </a:r>
            <a:br>
              <a:rPr lang="en-US" sz="2000" dirty="0"/>
            </a:br>
            <a:r>
              <a:rPr lang="en-US" sz="2000" dirty="0"/>
              <a:t>our system can process both OMR &amp; </a:t>
            </a:r>
            <a:br>
              <a:rPr lang="en-US" sz="2000" dirty="0"/>
            </a:br>
            <a:r>
              <a:rPr lang="en-US" sz="2000" dirty="0"/>
              <a:t>handwritten text. </a:t>
            </a:r>
          </a:p>
          <a:p>
            <a:endParaRPr lang="en-US" sz="2000" dirty="0"/>
          </a:p>
          <a:p>
            <a:endParaRPr lang="en-US" sz="2000" dirty="0"/>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5" name="Slide Number Placeholder 4"/>
          <p:cNvSpPr>
            <a:spLocks noGrp="1"/>
          </p:cNvSpPr>
          <p:nvPr>
            <p:ph type="sldNum" sz="quarter" idx="12"/>
          </p:nvPr>
        </p:nvSpPr>
        <p:spPr/>
        <p:txBody>
          <a:bodyPr/>
          <a:lstStyle/>
          <a:p>
            <a:fld id="{B1FC6276-0AD7-4494-991C-684D36EA0CC2}" type="slidenum">
              <a:rPr lang="en-US" smtClean="0"/>
              <a:pPr/>
              <a:t>2</a:t>
            </a:fld>
            <a:endParaRPr lang="en-US" dirty="0"/>
          </a:p>
        </p:txBody>
      </p:sp>
      <p:pic>
        <p:nvPicPr>
          <p:cNvPr id="6" name="Picture 5" descr="standardized_test-1200x480.jpg"/>
          <p:cNvPicPr>
            <a:picLocks noChangeAspect="1"/>
          </p:cNvPicPr>
          <p:nvPr/>
        </p:nvPicPr>
        <p:blipFill>
          <a:blip r:embed="rId3" cstate="print"/>
          <a:stretch>
            <a:fillRect/>
          </a:stretch>
        </p:blipFill>
        <p:spPr>
          <a:xfrm>
            <a:off x="5687616" y="1628800"/>
            <a:ext cx="3456384" cy="1828800"/>
          </a:xfrm>
          <a:prstGeom prst="rect">
            <a:avLst/>
          </a:prstGeom>
        </p:spPr>
      </p:pic>
      <p:pic>
        <p:nvPicPr>
          <p:cNvPr id="7" name="Picture 6" descr="6f7ee1a471164e2dc8a28c3e391e97de.jpg"/>
          <p:cNvPicPr>
            <a:picLocks noChangeAspect="1"/>
          </p:cNvPicPr>
          <p:nvPr/>
        </p:nvPicPr>
        <p:blipFill>
          <a:blip r:embed="rId4" cstate="print"/>
          <a:stretch>
            <a:fillRect/>
          </a:stretch>
        </p:blipFill>
        <p:spPr>
          <a:xfrm>
            <a:off x="5652120" y="3501008"/>
            <a:ext cx="3491880" cy="24498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lvl="0" algn="l"/>
            <a:r>
              <a:rPr lang="en-US" sz="3200" dirty="0">
                <a:solidFill>
                  <a:srgbClr val="1557FF"/>
                </a:solidFill>
                <a:latin typeface="Archivo Black"/>
                <a:sym typeface="Archivo Black"/>
              </a:rPr>
              <a:t>Motivation</a:t>
            </a:r>
            <a:endParaRPr lang="en-US" sz="3200" dirty="0"/>
          </a:p>
        </p:txBody>
      </p:sp>
      <p:sp>
        <p:nvSpPr>
          <p:cNvPr id="3" name="Content Placeholder 2"/>
          <p:cNvSpPr>
            <a:spLocks noGrp="1"/>
          </p:cNvSpPr>
          <p:nvPr>
            <p:ph idx="1"/>
          </p:nvPr>
        </p:nvSpPr>
        <p:spPr>
          <a:xfrm>
            <a:off x="467544" y="1556792"/>
            <a:ext cx="8352928" cy="4824536"/>
          </a:xfrm>
        </p:spPr>
        <p:txBody>
          <a:bodyPr>
            <a:normAutofit/>
          </a:bodyPr>
          <a:lstStyle/>
          <a:p>
            <a:r>
              <a:rPr lang="en-US" sz="2000" b="1" dirty="0"/>
              <a:t>Time-saving</a:t>
            </a:r>
            <a:r>
              <a:rPr lang="en-US" sz="2000" dirty="0"/>
              <a:t>: Automated grading systems significantly reduce the time educators spend on grading.</a:t>
            </a:r>
          </a:p>
          <a:p>
            <a:r>
              <a:rPr lang="en-US" sz="2000" b="1" dirty="0"/>
              <a:t>Scalability</a:t>
            </a:r>
            <a:r>
              <a:rPr lang="en-US" sz="2000" dirty="0"/>
              <a:t>: These systems can handle large volumes of assessments, making them ideal for standardized testing environments.</a:t>
            </a:r>
          </a:p>
          <a:p>
            <a:r>
              <a:rPr lang="en-US" sz="2000" b="1" dirty="0"/>
              <a:t>Elimination of Bias</a:t>
            </a:r>
            <a:r>
              <a:rPr lang="en-US" sz="2000" dirty="0"/>
              <a:t>: Automated systems provide uniform grading criteria, ensuring all students are graded consistently, reducing the potential for human bias.</a:t>
            </a:r>
          </a:p>
          <a:p>
            <a:r>
              <a:rPr lang="en-US" sz="2000" dirty="0"/>
              <a:t> </a:t>
            </a:r>
            <a:r>
              <a:rPr lang="en-US" sz="2000" b="1" dirty="0"/>
              <a:t>Instant Results</a:t>
            </a:r>
            <a:r>
              <a:rPr lang="en-US" sz="2000" dirty="0"/>
              <a:t>: Students receive immediate feedback on their performance. This immediate response helps in identifying areas of improvement.</a:t>
            </a:r>
          </a:p>
          <a:p>
            <a:r>
              <a:rPr lang="en-US" sz="2000" b="1" dirty="0"/>
              <a:t>Error Reduction</a:t>
            </a:r>
            <a:r>
              <a:rPr lang="en-US" sz="2000" dirty="0"/>
              <a:t>: Minimizes human error in grading, ensuring that assessments are accurate and reliable.</a:t>
            </a:r>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5" name="Slide Number Placeholder 4"/>
          <p:cNvSpPr>
            <a:spLocks noGrp="1"/>
          </p:cNvSpPr>
          <p:nvPr>
            <p:ph type="sldNum" sz="quarter" idx="12"/>
          </p:nvPr>
        </p:nvSpPr>
        <p:spPr/>
        <p:txBody>
          <a:bodyPr/>
          <a:lstStyle/>
          <a:p>
            <a:fld id="{B1FC6276-0AD7-4494-991C-684D36EA0CC2}"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lvl="0" algn="l"/>
            <a:r>
              <a:rPr lang="en-US" sz="3200" dirty="0" err="1">
                <a:solidFill>
                  <a:srgbClr val="1557FF"/>
                </a:solidFill>
                <a:latin typeface="Archivo Black"/>
                <a:sym typeface="Archivo Black"/>
              </a:rPr>
              <a:t>Streamlit</a:t>
            </a:r>
            <a:r>
              <a:rPr lang="en-US" sz="3200" dirty="0">
                <a:solidFill>
                  <a:srgbClr val="1557FF"/>
                </a:solidFill>
                <a:latin typeface="Archivo Black"/>
                <a:sym typeface="Archivo Black"/>
              </a:rPr>
              <a:t> Integration</a:t>
            </a:r>
            <a:endParaRPr lang="en-US" sz="3200" dirty="0"/>
          </a:p>
        </p:txBody>
      </p:sp>
      <p:sp>
        <p:nvSpPr>
          <p:cNvPr id="3" name="Content Placeholder 2"/>
          <p:cNvSpPr>
            <a:spLocks noGrp="1"/>
          </p:cNvSpPr>
          <p:nvPr>
            <p:ph idx="1"/>
          </p:nvPr>
        </p:nvSpPr>
        <p:spPr>
          <a:xfrm>
            <a:off x="467544" y="1556792"/>
            <a:ext cx="8352928" cy="5301208"/>
          </a:xfrm>
        </p:spPr>
        <p:txBody>
          <a:bodyPr>
            <a:normAutofit fontScale="92500" lnSpcReduction="10000"/>
          </a:bodyPr>
          <a:lstStyle/>
          <a:p>
            <a:pPr>
              <a:buNone/>
            </a:pPr>
            <a:r>
              <a:rPr lang="en-US" sz="2400" dirty="0"/>
              <a:t>     </a:t>
            </a:r>
            <a:r>
              <a:rPr lang="en-US" sz="2000" dirty="0" err="1"/>
              <a:t>Streamlit</a:t>
            </a:r>
            <a:r>
              <a:rPr lang="en-US" sz="2000" dirty="0"/>
              <a:t> is an open-source framework for building interactive web applications using Python. We use </a:t>
            </a:r>
            <a:r>
              <a:rPr lang="en-US" sz="2000" dirty="0" err="1"/>
              <a:t>Streamlit</a:t>
            </a:r>
            <a:r>
              <a:rPr lang="en-US" sz="2000" dirty="0"/>
              <a:t> to build a web app that allows users to upload images, process the data, and display the results.</a:t>
            </a:r>
          </a:p>
          <a:p>
            <a:pPr>
              <a:buNone/>
            </a:pPr>
            <a:endParaRPr lang="en-US" sz="2000" b="1" dirty="0"/>
          </a:p>
          <a:p>
            <a:r>
              <a:rPr lang="en-US" sz="2000" b="1" dirty="0"/>
              <a:t>File Upload</a:t>
            </a:r>
            <a:br>
              <a:rPr lang="en-US" dirty="0"/>
            </a:br>
            <a:r>
              <a:rPr lang="en-US" sz="2000" dirty="0"/>
              <a:t>Upload image of OMR answers and handwritten </a:t>
            </a:r>
            <a:br>
              <a:rPr lang="en-US" sz="2000" dirty="0"/>
            </a:br>
            <a:r>
              <a:rPr lang="en-US" sz="2000" dirty="0"/>
              <a:t>responses.</a:t>
            </a:r>
            <a:br>
              <a:rPr lang="en-US" sz="2000" dirty="0"/>
            </a:br>
            <a:endParaRPr lang="en-US" sz="2000" dirty="0"/>
          </a:p>
          <a:p>
            <a:r>
              <a:rPr lang="en-US" sz="2000" b="1" dirty="0"/>
              <a:t>Image Display</a:t>
            </a:r>
            <a:br>
              <a:rPr lang="en-US" sz="2400" dirty="0"/>
            </a:br>
            <a:r>
              <a:rPr lang="en-US" sz="2000" dirty="0"/>
              <a:t>Uploaded images are displayed for verification.</a:t>
            </a:r>
            <a:br>
              <a:rPr lang="en-US" sz="2000" dirty="0"/>
            </a:br>
            <a:endParaRPr lang="en-US" sz="2000" dirty="0"/>
          </a:p>
          <a:p>
            <a:r>
              <a:rPr lang="en-US" sz="2000" b="1" dirty="0"/>
              <a:t>Processing and Analysis</a:t>
            </a:r>
            <a:br>
              <a:rPr lang="en-US" sz="2400" dirty="0"/>
            </a:br>
            <a:r>
              <a:rPr lang="en-US" sz="2000" dirty="0"/>
              <a:t>Images are processed using </a:t>
            </a:r>
            <a:r>
              <a:rPr lang="en-US" sz="2000" dirty="0" err="1"/>
              <a:t>OpenCV</a:t>
            </a:r>
            <a:r>
              <a:rPr lang="en-US" sz="2000" dirty="0"/>
              <a:t> and </a:t>
            </a:r>
            <a:br>
              <a:rPr lang="en-US" sz="2000" dirty="0"/>
            </a:br>
            <a:r>
              <a:rPr lang="en-US" sz="2000" dirty="0"/>
              <a:t>OCR technologies.</a:t>
            </a:r>
            <a:br>
              <a:rPr lang="en-US" sz="2000" dirty="0"/>
            </a:br>
            <a:endParaRPr lang="en-US" sz="2000" dirty="0"/>
          </a:p>
          <a:p>
            <a:r>
              <a:rPr lang="en-US" sz="2000" b="1" dirty="0"/>
              <a:t>Feedback</a:t>
            </a:r>
            <a:r>
              <a:rPr lang="en-US" sz="2000" dirty="0"/>
              <a:t> </a:t>
            </a:r>
            <a:br>
              <a:rPr lang="en-US" sz="2400" dirty="0"/>
            </a:br>
            <a:r>
              <a:rPr lang="en-US" sz="2000" dirty="0"/>
              <a:t>Real-time results are displayed to the users.</a:t>
            </a:r>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6" name="Slide Number Placeholder 5"/>
          <p:cNvSpPr>
            <a:spLocks noGrp="1"/>
          </p:cNvSpPr>
          <p:nvPr>
            <p:ph type="sldNum" sz="quarter" idx="12"/>
          </p:nvPr>
        </p:nvSpPr>
        <p:spPr/>
        <p:txBody>
          <a:bodyPr/>
          <a:lstStyle/>
          <a:p>
            <a:fld id="{B1FC6276-0AD7-4494-991C-684D36EA0CC2}" type="slidenum">
              <a:rPr lang="en-US" smtClean="0"/>
              <a:pPr/>
              <a:t>4</a:t>
            </a:fld>
            <a:endParaRPr lang="en-US" dirty="0"/>
          </a:p>
        </p:txBody>
      </p:sp>
      <p:pic>
        <p:nvPicPr>
          <p:cNvPr id="9" name="Picture 8" descr="Capture.PNG"/>
          <p:cNvPicPr>
            <a:picLocks noChangeAspect="1"/>
          </p:cNvPicPr>
          <p:nvPr/>
        </p:nvPicPr>
        <p:blipFill>
          <a:blip r:embed="rId3" cstate="print"/>
          <a:stretch>
            <a:fillRect/>
          </a:stretch>
        </p:blipFill>
        <p:spPr>
          <a:xfrm>
            <a:off x="6084168" y="2276872"/>
            <a:ext cx="3059832" cy="21602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lvl="0" algn="l"/>
            <a:r>
              <a:rPr lang="en-US" sz="3200" dirty="0" err="1">
                <a:solidFill>
                  <a:srgbClr val="1557FF"/>
                </a:solidFill>
                <a:latin typeface="Archivo Black"/>
                <a:sym typeface="Archivo Black"/>
              </a:rPr>
              <a:t>AsposeOCR</a:t>
            </a:r>
            <a:endParaRPr lang="en-US" sz="3200" dirty="0"/>
          </a:p>
        </p:txBody>
      </p:sp>
      <p:sp>
        <p:nvSpPr>
          <p:cNvPr id="3" name="Content Placeholder 2"/>
          <p:cNvSpPr>
            <a:spLocks noGrp="1"/>
          </p:cNvSpPr>
          <p:nvPr>
            <p:ph idx="1"/>
          </p:nvPr>
        </p:nvSpPr>
        <p:spPr>
          <a:xfrm>
            <a:off x="467544" y="1556792"/>
            <a:ext cx="8352928" cy="4824536"/>
          </a:xfrm>
        </p:spPr>
        <p:txBody>
          <a:bodyPr>
            <a:normAutofit/>
          </a:bodyPr>
          <a:lstStyle/>
          <a:p>
            <a:r>
              <a:rPr lang="en-US" sz="2000" dirty="0" err="1"/>
              <a:t>AsposeOCR</a:t>
            </a:r>
            <a:r>
              <a:rPr lang="en-US" sz="2000" dirty="0"/>
              <a:t> is an API that provides Optical Character Recognition (OCR) capabilities for computer vision applications, which are popular for their document manipulation and processing capabilities. In our project, It’s specifically focuses on extracting text from images using OCR technology.</a:t>
            </a:r>
            <a:br>
              <a:rPr lang="en-US" sz="2000" dirty="0"/>
            </a:br>
            <a:endParaRPr lang="en-US" sz="2000" dirty="0"/>
          </a:p>
          <a:p>
            <a:r>
              <a:rPr lang="en-US" sz="2000" dirty="0"/>
              <a:t>Integrating </a:t>
            </a:r>
            <a:r>
              <a:rPr lang="en-US" sz="2000" dirty="0" err="1"/>
              <a:t>AsposeOCR</a:t>
            </a:r>
            <a:r>
              <a:rPr lang="en-US" sz="2000" dirty="0"/>
              <a:t> into our application streamlined the process of extracting textual information from scanned documents, enhancing efficiency and accuracy. </a:t>
            </a:r>
            <a:br>
              <a:rPr lang="en-US" sz="2000" dirty="0"/>
            </a:br>
            <a:endParaRPr lang="en-US" sz="2000" dirty="0"/>
          </a:p>
          <a:p>
            <a:r>
              <a:rPr lang="en-US" sz="2000" b="1" dirty="0"/>
              <a:t>Outcome</a:t>
            </a:r>
            <a:r>
              <a:rPr lang="en-US" sz="2000" dirty="0"/>
              <a:t>: The result of using </a:t>
            </a:r>
            <a:r>
              <a:rPr lang="en-US" sz="2000" dirty="0" err="1"/>
              <a:t>AsposeOCR</a:t>
            </a:r>
            <a:r>
              <a:rPr lang="en-US" sz="2000" dirty="0"/>
              <a:t> is a plain text representation of the content found within the image.</a:t>
            </a:r>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5" name="Slide Number Placeholder 4"/>
          <p:cNvSpPr>
            <a:spLocks noGrp="1"/>
          </p:cNvSpPr>
          <p:nvPr>
            <p:ph type="sldNum" sz="quarter" idx="12"/>
          </p:nvPr>
        </p:nvSpPr>
        <p:spPr/>
        <p:txBody>
          <a:bodyPr/>
          <a:lstStyle/>
          <a:p>
            <a:fld id="{B1FC6276-0AD7-4494-991C-684D36EA0CC2}"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lvl="0" algn="l"/>
            <a:r>
              <a:rPr lang="en-US" sz="3200" dirty="0">
                <a:solidFill>
                  <a:srgbClr val="1557FF"/>
                </a:solidFill>
                <a:latin typeface="Archivo Black"/>
                <a:sym typeface="Archivo Black"/>
              </a:rPr>
              <a:t>Generate text embeddings </a:t>
            </a:r>
            <a:br>
              <a:rPr lang="en-US" sz="3200" dirty="0">
                <a:solidFill>
                  <a:srgbClr val="1557FF"/>
                </a:solidFill>
                <a:latin typeface="Archivo Black"/>
                <a:sym typeface="Archivo Black"/>
              </a:rPr>
            </a:br>
            <a:r>
              <a:rPr lang="en-US" sz="3200" dirty="0">
                <a:solidFill>
                  <a:srgbClr val="1557FF"/>
                </a:solidFill>
                <a:latin typeface="Archivo Black"/>
                <a:sym typeface="Archivo Black"/>
              </a:rPr>
              <a:t>with BERT</a:t>
            </a:r>
            <a:endParaRPr lang="en-US" sz="3200" dirty="0"/>
          </a:p>
        </p:txBody>
      </p:sp>
      <p:sp>
        <p:nvSpPr>
          <p:cNvPr id="3" name="Content Placeholder 2"/>
          <p:cNvSpPr>
            <a:spLocks noGrp="1"/>
          </p:cNvSpPr>
          <p:nvPr>
            <p:ph idx="1"/>
          </p:nvPr>
        </p:nvSpPr>
        <p:spPr>
          <a:xfrm>
            <a:off x="467544" y="1556792"/>
            <a:ext cx="8352928" cy="4824536"/>
          </a:xfrm>
        </p:spPr>
        <p:txBody>
          <a:bodyPr>
            <a:normAutofit/>
          </a:bodyPr>
          <a:lstStyle/>
          <a:p>
            <a:r>
              <a:rPr lang="en-US" sz="2000" dirty="0"/>
              <a:t>BERT is based on the Transformer architecture, a type of neural network architecture designed to handle sequential data such as text. Transformers allow for capturing dependencies and relationships between words in a sentence more effectively.</a:t>
            </a:r>
            <a:br>
              <a:rPr lang="en-US" sz="2000" dirty="0"/>
            </a:br>
            <a:endParaRPr lang="en-US" sz="2000" dirty="0"/>
          </a:p>
          <a:p>
            <a:r>
              <a:rPr lang="en-US" sz="2000" dirty="0"/>
              <a:t>BERT embeddings capture the semantic meaning and context of words within the extracted text, considering how each word relates to its surrounding words.</a:t>
            </a:r>
            <a:br>
              <a:rPr lang="en-US" sz="2000" dirty="0"/>
            </a:br>
            <a:endParaRPr lang="en-US" sz="2000" dirty="0"/>
          </a:p>
          <a:p>
            <a:r>
              <a:rPr lang="en-US" sz="2000" b="1" dirty="0"/>
              <a:t>Outcome</a:t>
            </a:r>
            <a:r>
              <a:rPr lang="en-US" sz="2000" dirty="0"/>
              <a:t>: The result of using BERT is to generate text embeddings for our text from the image.</a:t>
            </a:r>
            <a:br>
              <a:rPr lang="en-US" sz="2400" dirty="0"/>
            </a:br>
            <a:br>
              <a:rPr lang="en-US" sz="2400" dirty="0"/>
            </a:br>
            <a:endParaRPr lang="en-US" sz="2400" dirty="0"/>
          </a:p>
          <a:p>
            <a:endParaRPr lang="en-US" sz="2400" dirty="0"/>
          </a:p>
          <a:p>
            <a:endParaRPr lang="en-US" sz="2400" dirty="0"/>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6" name="Slide Number Placeholder 5"/>
          <p:cNvSpPr>
            <a:spLocks noGrp="1"/>
          </p:cNvSpPr>
          <p:nvPr>
            <p:ph type="sldNum" sz="quarter" idx="12"/>
          </p:nvPr>
        </p:nvSpPr>
        <p:spPr/>
        <p:txBody>
          <a:bodyPr/>
          <a:lstStyle/>
          <a:p>
            <a:fld id="{B1FC6276-0AD7-4494-991C-684D36EA0CC2}"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lvl="0" algn="l"/>
            <a:r>
              <a:rPr lang="en-US" sz="3200" dirty="0">
                <a:solidFill>
                  <a:srgbClr val="1557FF"/>
                </a:solidFill>
                <a:latin typeface="Archivo Black"/>
                <a:sym typeface="Archivo Black"/>
              </a:rPr>
              <a:t>Cosine similarity </a:t>
            </a:r>
            <a:endParaRPr lang="en-US" sz="3200" dirty="0"/>
          </a:p>
        </p:txBody>
      </p:sp>
      <p:sp>
        <p:nvSpPr>
          <p:cNvPr id="3" name="Content Placeholder 2"/>
          <p:cNvSpPr>
            <a:spLocks noGrp="1"/>
          </p:cNvSpPr>
          <p:nvPr>
            <p:ph idx="1"/>
          </p:nvPr>
        </p:nvSpPr>
        <p:spPr>
          <a:xfrm>
            <a:off x="467544" y="1556792"/>
            <a:ext cx="8676456" cy="5301208"/>
          </a:xfrm>
        </p:spPr>
        <p:txBody>
          <a:bodyPr>
            <a:normAutofit/>
          </a:bodyPr>
          <a:lstStyle/>
          <a:p>
            <a:r>
              <a:rPr lang="en-US" sz="2000" dirty="0"/>
              <a:t>Cosine similarity provides a quantitative measure to assess the semantic similarity between expected and correct answers in textual analysis tasks. By comparing vector representations of the answers, it helps in evaluating the accuracy, relevance, and semantic equivalence of textual outputs.</a:t>
            </a:r>
            <a:br>
              <a:rPr lang="en-US" sz="2000" dirty="0"/>
            </a:br>
            <a:endParaRPr lang="en-US" sz="2000" dirty="0"/>
          </a:p>
          <a:p>
            <a:r>
              <a:rPr lang="en-US" sz="2000" b="1" dirty="0"/>
              <a:t> Outcome</a:t>
            </a:r>
            <a:r>
              <a:rPr lang="en-US" sz="2000" dirty="0"/>
              <a:t>: The goal is typically to quantify how similar extracted and correct text are in terms of their semantic meaning or content.</a:t>
            </a:r>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6" name="Slide Number Placeholder 5"/>
          <p:cNvSpPr>
            <a:spLocks noGrp="1"/>
          </p:cNvSpPr>
          <p:nvPr>
            <p:ph type="sldNum" sz="quarter" idx="12"/>
          </p:nvPr>
        </p:nvSpPr>
        <p:spPr/>
        <p:txBody>
          <a:bodyPr/>
          <a:lstStyle/>
          <a:p>
            <a:fld id="{B1FC6276-0AD7-4494-991C-684D36EA0CC2}"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lvl="0" algn="l"/>
            <a:r>
              <a:rPr lang="en-US" sz="3200" dirty="0" err="1">
                <a:solidFill>
                  <a:srgbClr val="1557FF"/>
                </a:solidFill>
                <a:latin typeface="Archivo Black"/>
                <a:sym typeface="Archivo Black"/>
              </a:rPr>
              <a:t>OpenCV</a:t>
            </a:r>
            <a:r>
              <a:rPr lang="en-US" sz="3200" dirty="0">
                <a:solidFill>
                  <a:srgbClr val="1557FF"/>
                </a:solidFill>
                <a:latin typeface="Archivo Black"/>
                <a:sym typeface="Archivo Black"/>
              </a:rPr>
              <a:t> Usage &amp; Processes </a:t>
            </a:r>
            <a:br>
              <a:rPr lang="en-US" sz="3200" dirty="0">
                <a:solidFill>
                  <a:srgbClr val="1557FF"/>
                </a:solidFill>
                <a:latin typeface="Archivo Black"/>
                <a:sym typeface="Archivo Black"/>
              </a:rPr>
            </a:br>
            <a:r>
              <a:rPr lang="en-US" sz="3200" dirty="0">
                <a:solidFill>
                  <a:srgbClr val="1557FF"/>
                </a:solidFill>
                <a:latin typeface="Archivo Black"/>
                <a:sym typeface="Archivo Black"/>
              </a:rPr>
              <a:t>involved for OMR </a:t>
            </a:r>
            <a:endParaRPr lang="en-US" sz="3200" dirty="0"/>
          </a:p>
        </p:txBody>
      </p:sp>
      <p:sp>
        <p:nvSpPr>
          <p:cNvPr id="3" name="Content Placeholder 2"/>
          <p:cNvSpPr>
            <a:spLocks noGrp="1"/>
          </p:cNvSpPr>
          <p:nvPr>
            <p:ph idx="1"/>
          </p:nvPr>
        </p:nvSpPr>
        <p:spPr>
          <a:xfrm>
            <a:off x="467544" y="1556792"/>
            <a:ext cx="8352928" cy="6120680"/>
          </a:xfrm>
        </p:spPr>
        <p:txBody>
          <a:bodyPr>
            <a:normAutofit/>
          </a:bodyPr>
          <a:lstStyle/>
          <a:p>
            <a:pPr>
              <a:buNone/>
            </a:pPr>
            <a:r>
              <a:rPr lang="en-US" sz="2400" dirty="0"/>
              <a:t>     </a:t>
            </a:r>
            <a:r>
              <a:rPr lang="en-US" sz="2000" dirty="0" err="1"/>
              <a:t>OpenCV</a:t>
            </a:r>
            <a:r>
              <a:rPr lang="en-US" sz="2000" dirty="0"/>
              <a:t> is used for OMR task on a given image. It can be integrated into an OMR system to extract, analyze, and grade answers from scanned images efficiently.</a:t>
            </a:r>
          </a:p>
          <a:p>
            <a:pPr>
              <a:buNone/>
            </a:pPr>
            <a:endParaRPr lang="en-US" sz="2000" b="1" dirty="0"/>
          </a:p>
          <a:p>
            <a:r>
              <a:rPr lang="en-US" sz="2000" b="1" dirty="0"/>
              <a:t>Image Reading and Preprocessing</a:t>
            </a:r>
            <a:br>
              <a:rPr lang="en-US" sz="2000" b="1" dirty="0"/>
            </a:br>
            <a:r>
              <a:rPr lang="en-US" sz="2000" dirty="0"/>
              <a:t>The input image is resized to a standard size to ensure consistency in processing. </a:t>
            </a:r>
            <a:br>
              <a:rPr lang="en-US" sz="2000" dirty="0"/>
            </a:br>
            <a:r>
              <a:rPr lang="en-US" sz="2000" dirty="0"/>
              <a:t>Convert into Grayscale simplifies subsequent image analysis. </a:t>
            </a:r>
            <a:br>
              <a:rPr lang="en-US" sz="2000" dirty="0"/>
            </a:br>
            <a:endParaRPr lang="en-US" sz="2000" dirty="0"/>
          </a:p>
          <a:p>
            <a:r>
              <a:rPr lang="en-US" sz="2000" b="1" dirty="0"/>
              <a:t>Image Enhancement</a:t>
            </a:r>
            <a:br>
              <a:rPr lang="en-US" sz="2000" dirty="0"/>
            </a:br>
            <a:r>
              <a:rPr lang="en-US" sz="2000" dirty="0"/>
              <a:t>Reduce noise and enhance edges in the grayscale image. </a:t>
            </a:r>
            <a:br>
              <a:rPr lang="en-US" sz="2000" dirty="0"/>
            </a:br>
            <a:r>
              <a:rPr lang="en-US" sz="2000" dirty="0"/>
              <a:t>Detecting edges in the blurred image, crucial for identifying contours. </a:t>
            </a:r>
            <a:br>
              <a:rPr lang="en-US" sz="2400" dirty="0"/>
            </a:br>
            <a:br>
              <a:rPr lang="en-US" sz="2400" dirty="0"/>
            </a:br>
            <a:endParaRPr lang="en-US" sz="2400" dirty="0"/>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6" name="Slide Number Placeholder 5"/>
          <p:cNvSpPr>
            <a:spLocks noGrp="1"/>
          </p:cNvSpPr>
          <p:nvPr>
            <p:ph type="sldNum" sz="quarter" idx="12"/>
          </p:nvPr>
        </p:nvSpPr>
        <p:spPr/>
        <p:txBody>
          <a:bodyPr/>
          <a:lstStyle/>
          <a:p>
            <a:fld id="{B1FC6276-0AD7-4494-991C-684D36EA0CC2}"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lvl="0" algn="l"/>
            <a:r>
              <a:rPr lang="en-US" sz="3200" dirty="0" err="1">
                <a:solidFill>
                  <a:srgbClr val="1557FF"/>
                </a:solidFill>
                <a:latin typeface="Archivo Black"/>
                <a:sym typeface="Archivo Black"/>
              </a:rPr>
              <a:t>OpenCV</a:t>
            </a:r>
            <a:r>
              <a:rPr lang="en-US" sz="3200" dirty="0">
                <a:solidFill>
                  <a:srgbClr val="1557FF"/>
                </a:solidFill>
                <a:latin typeface="Archivo Black"/>
                <a:sym typeface="Archivo Black"/>
              </a:rPr>
              <a:t> Usage &amp; Processes </a:t>
            </a:r>
            <a:br>
              <a:rPr lang="en-US" sz="3200" dirty="0">
                <a:solidFill>
                  <a:srgbClr val="1557FF"/>
                </a:solidFill>
                <a:latin typeface="Archivo Black"/>
                <a:sym typeface="Archivo Black"/>
              </a:rPr>
            </a:br>
            <a:r>
              <a:rPr lang="en-US" sz="3200" dirty="0">
                <a:solidFill>
                  <a:srgbClr val="1557FF"/>
                </a:solidFill>
                <a:latin typeface="Archivo Black"/>
                <a:sym typeface="Archivo Black"/>
              </a:rPr>
              <a:t>involved for OMR </a:t>
            </a:r>
            <a:endParaRPr lang="en-US" sz="3200" dirty="0"/>
          </a:p>
        </p:txBody>
      </p:sp>
      <p:sp>
        <p:nvSpPr>
          <p:cNvPr id="3" name="Content Placeholder 2"/>
          <p:cNvSpPr>
            <a:spLocks noGrp="1"/>
          </p:cNvSpPr>
          <p:nvPr>
            <p:ph idx="1"/>
          </p:nvPr>
        </p:nvSpPr>
        <p:spPr>
          <a:xfrm>
            <a:off x="467544" y="1556792"/>
            <a:ext cx="8352928" cy="6120680"/>
          </a:xfrm>
        </p:spPr>
        <p:txBody>
          <a:bodyPr>
            <a:normAutofit/>
          </a:bodyPr>
          <a:lstStyle/>
          <a:p>
            <a:pPr>
              <a:buNone/>
            </a:pPr>
            <a:br>
              <a:rPr lang="en-US" sz="2000" dirty="0"/>
            </a:br>
            <a:br>
              <a:rPr lang="en-US" sz="2400" dirty="0"/>
            </a:br>
            <a:br>
              <a:rPr lang="en-US" sz="2400" dirty="0"/>
            </a:br>
            <a:endParaRPr lang="en-US" sz="2400" dirty="0"/>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6" name="Slide Number Placeholder 5"/>
          <p:cNvSpPr>
            <a:spLocks noGrp="1"/>
          </p:cNvSpPr>
          <p:nvPr>
            <p:ph type="sldNum" sz="quarter" idx="12"/>
          </p:nvPr>
        </p:nvSpPr>
        <p:spPr/>
        <p:txBody>
          <a:bodyPr/>
          <a:lstStyle/>
          <a:p>
            <a:fld id="{B1FC6276-0AD7-4494-991C-684D36EA0CC2}" type="slidenum">
              <a:rPr lang="en-US" smtClean="0"/>
              <a:pPr/>
              <a:t>9</a:t>
            </a:fld>
            <a:endParaRPr lang="en-US"/>
          </a:p>
        </p:txBody>
      </p:sp>
      <p:sp>
        <p:nvSpPr>
          <p:cNvPr id="7" name="Content Placeholder 2"/>
          <p:cNvSpPr txBox="1">
            <a:spLocks/>
          </p:cNvSpPr>
          <p:nvPr/>
        </p:nvSpPr>
        <p:spPr>
          <a:xfrm>
            <a:off x="619944" y="1709192"/>
            <a:ext cx="8352928" cy="5680248"/>
          </a:xfrm>
          <a:prstGeom prst="rect">
            <a:avLst/>
          </a:prstGeom>
        </p:spPr>
        <p:txBody>
          <a:bodyPr vert="horz" lIns="91440" tIns="45720" rIns="91440" bIns="45720" rtlCol="0">
            <a:normAutofit lnSpcReduction="10000"/>
          </a:bodyPr>
          <a:lstStyle/>
          <a:p>
            <a:pPr marL="342900" lvl="0" indent="-342900">
              <a:spcBef>
                <a:spcPct val="20000"/>
              </a:spcBef>
              <a:buFont typeface="Arial" pitchFamily="34" charset="0"/>
              <a:buChar char="•"/>
            </a:pPr>
            <a:r>
              <a:rPr lang="en-US" sz="2000" b="1" dirty="0"/>
              <a:t>Contour Detecting &amp; Preprocessing</a:t>
            </a:r>
            <a:br>
              <a:rPr lang="en-US" sz="2000" b="1" dirty="0"/>
            </a:br>
            <a:r>
              <a:rPr lang="en-US" sz="2000" dirty="0"/>
              <a:t>Identify contours in the Canny edge-detected image, which likely represent the outlines of OMR bubbles or regions</a:t>
            </a:r>
            <a:br>
              <a:rPr lang="en-US" sz="2000" dirty="0"/>
            </a:br>
            <a:endParaRPr lang="en-US" sz="2000" b="1" dirty="0"/>
          </a:p>
          <a:p>
            <a:pPr marL="342900" lvl="0" indent="-342900">
              <a:spcBef>
                <a:spcPct val="20000"/>
              </a:spcBef>
              <a:buFont typeface="Arial" pitchFamily="34" charset="0"/>
              <a:buChar char="•"/>
            </a:pPr>
            <a:r>
              <a:rPr lang="en-US" sz="2000" b="1" dirty="0"/>
              <a:t>Answer Region Extraction</a:t>
            </a:r>
            <a:br>
              <a:rPr kumimoji="0" lang="en-US" sz="2000" b="0" i="0" u="none" strike="noStrike" kern="1200" cap="none" spc="0" normalizeH="0" baseline="0" noProof="0" dirty="0">
                <a:ln>
                  <a:noFill/>
                </a:ln>
                <a:solidFill>
                  <a:schemeClr val="tx1"/>
                </a:solidFill>
                <a:effectLst/>
                <a:uLnTx/>
                <a:uFillTx/>
                <a:latin typeface="+mn-lt"/>
                <a:ea typeface="+mn-ea"/>
                <a:cs typeface="+mn-cs"/>
              </a:rPr>
            </a:br>
            <a:r>
              <a:rPr lang="en-US" sz="2000" dirty="0"/>
              <a:t>A specific region of interest (ROI) containing the answer bubbles is extracted using perspective transformation and displayed, aiding in visualization and further analysis.</a:t>
            </a:r>
            <a:r>
              <a:rPr kumimoji="0" lang="en-US" sz="2000" b="0" i="0" u="none" strike="noStrike" kern="1200" cap="none" spc="0" normalizeH="0" baseline="0" noProof="0" dirty="0">
                <a:ln>
                  <a:noFill/>
                </a:ln>
                <a:solidFill>
                  <a:schemeClr val="tx1"/>
                </a:solidFill>
                <a:effectLst/>
                <a:uLnTx/>
                <a:uFillTx/>
                <a:latin typeface="+mn-lt"/>
                <a:ea typeface="+mn-ea"/>
                <a:cs typeface="+mn-cs"/>
              </a:rPr>
              <a:t>. </a:t>
            </a:r>
            <a:br>
              <a:rPr kumimoji="0" lang="en-US" sz="2000" b="0" i="0" u="none" strike="noStrike" kern="1200" cap="none" spc="0" normalizeH="0" baseline="0" noProof="0" dirty="0">
                <a:ln>
                  <a:noFill/>
                </a:ln>
                <a:solidFill>
                  <a:schemeClr val="tx1"/>
                </a:solidFill>
                <a:effectLst/>
                <a:uLnTx/>
                <a:uFillTx/>
                <a:latin typeface="+mn-lt"/>
                <a:ea typeface="+mn-ea"/>
                <a:cs typeface="+mn-cs"/>
              </a:rPr>
            </a:b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buFont typeface="Arial" pitchFamily="34" charset="0"/>
              <a:buChar char="•"/>
            </a:pPr>
            <a:r>
              <a:rPr lang="en-US" sz="2000" b="1" dirty="0" err="1"/>
              <a:t>Thresholding</a:t>
            </a:r>
            <a:r>
              <a:rPr lang="en-US" sz="2000" b="1" dirty="0"/>
              <a:t> and Pixel Counting</a:t>
            </a:r>
            <a:br>
              <a:rPr kumimoji="0" lang="en-US" sz="2000" b="1" i="0" u="none" strike="noStrike" kern="1200" cap="none" spc="0" normalizeH="0" baseline="0" noProof="0" dirty="0">
                <a:ln>
                  <a:noFill/>
                </a:ln>
                <a:solidFill>
                  <a:schemeClr val="tx1"/>
                </a:solidFill>
                <a:effectLst/>
                <a:uLnTx/>
                <a:uFillTx/>
                <a:latin typeface="+mn-lt"/>
                <a:ea typeface="+mn-ea"/>
                <a:cs typeface="+mn-cs"/>
              </a:rPr>
            </a:br>
            <a:r>
              <a:rPr lang="en-US" sz="2000" dirty="0"/>
              <a:t>Convert the warped grayscale image into a binary format, enhancing the contrast between marked and unmarked regions.</a:t>
            </a:r>
            <a:br>
              <a:rPr lang="en-US" sz="2000" dirty="0"/>
            </a:br>
            <a:r>
              <a:rPr lang="en-US" sz="2000" dirty="0"/>
              <a:t>Count non-zero (marked) pixels in segmented regions (boxes), providing data for subsequent answer identification.</a:t>
            </a:r>
            <a:r>
              <a:rPr lang="en-US" sz="2000" b="1" dirty="0"/>
              <a:t> </a:t>
            </a:r>
            <a:br>
              <a:rPr lang="en-US" sz="2000" dirty="0"/>
            </a:br>
            <a:br>
              <a:rPr kumimoji="0" lang="en-US" sz="2000" b="0" i="0" u="none" strike="noStrike" kern="1200" cap="none" spc="0" normalizeH="0" baseline="0" noProof="0" dirty="0">
                <a:ln>
                  <a:noFill/>
                </a:ln>
                <a:solidFill>
                  <a:schemeClr val="tx1"/>
                </a:solidFill>
                <a:effectLst/>
                <a:uLnTx/>
                <a:uFillTx/>
                <a:latin typeface="+mn-lt"/>
                <a:ea typeface="+mn-ea"/>
                <a:cs typeface="+mn-cs"/>
              </a:rPr>
            </a:br>
            <a:br>
              <a:rPr kumimoji="0" lang="en-US" sz="2400" b="0" i="0" u="none" strike="noStrike" kern="1200" cap="none" spc="0" normalizeH="0" baseline="0" noProof="0" dirty="0">
                <a:ln>
                  <a:noFill/>
                </a:ln>
                <a:solidFill>
                  <a:schemeClr val="tx1"/>
                </a:solidFill>
                <a:effectLst/>
                <a:uLnTx/>
                <a:uFillTx/>
                <a:latin typeface="+mn-lt"/>
                <a:ea typeface="+mn-ea"/>
                <a:cs typeface="+mn-cs"/>
              </a:rPr>
            </a:br>
            <a:br>
              <a:rPr kumimoji="0" lang="en-US" sz="2400" b="0" i="0" u="none" strike="noStrike" kern="1200" cap="none" spc="0" normalizeH="0" baseline="0" noProof="0" dirty="0">
                <a:ln>
                  <a:noFill/>
                </a:ln>
                <a:solidFill>
                  <a:schemeClr val="tx1"/>
                </a:solidFill>
                <a:effectLst/>
                <a:uLnTx/>
                <a:uFillTx/>
                <a:latin typeface="+mn-lt"/>
                <a:ea typeface="+mn-ea"/>
                <a:cs typeface="+mn-cs"/>
              </a:rPr>
            </a:b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lvl="0" algn="l"/>
            <a:r>
              <a:rPr lang="en-US" sz="3200" dirty="0" err="1">
                <a:solidFill>
                  <a:srgbClr val="1557FF"/>
                </a:solidFill>
                <a:latin typeface="Archivo Black"/>
                <a:sym typeface="Archivo Black"/>
              </a:rPr>
              <a:t>OpenCV</a:t>
            </a:r>
            <a:r>
              <a:rPr lang="en-US" sz="3200" dirty="0">
                <a:solidFill>
                  <a:srgbClr val="1557FF"/>
                </a:solidFill>
                <a:latin typeface="Archivo Black"/>
                <a:sym typeface="Archivo Black"/>
              </a:rPr>
              <a:t> Usage &amp; Processes </a:t>
            </a:r>
            <a:br>
              <a:rPr lang="en-US" sz="3200" dirty="0">
                <a:solidFill>
                  <a:srgbClr val="1557FF"/>
                </a:solidFill>
                <a:latin typeface="Archivo Black"/>
                <a:sym typeface="Archivo Black"/>
              </a:rPr>
            </a:br>
            <a:r>
              <a:rPr lang="en-US" sz="3200" dirty="0">
                <a:solidFill>
                  <a:srgbClr val="1557FF"/>
                </a:solidFill>
                <a:latin typeface="Archivo Black"/>
                <a:sym typeface="Archivo Black"/>
              </a:rPr>
              <a:t>involved for OMR </a:t>
            </a:r>
            <a:endParaRPr lang="en-US" sz="3200" dirty="0"/>
          </a:p>
        </p:txBody>
      </p:sp>
      <p:sp>
        <p:nvSpPr>
          <p:cNvPr id="3" name="Content Placeholder 2"/>
          <p:cNvSpPr>
            <a:spLocks noGrp="1"/>
          </p:cNvSpPr>
          <p:nvPr>
            <p:ph idx="1"/>
          </p:nvPr>
        </p:nvSpPr>
        <p:spPr>
          <a:xfrm>
            <a:off x="467544" y="1556792"/>
            <a:ext cx="8352928" cy="6120680"/>
          </a:xfrm>
        </p:spPr>
        <p:txBody>
          <a:bodyPr>
            <a:normAutofit/>
          </a:bodyPr>
          <a:lstStyle/>
          <a:p>
            <a:pPr>
              <a:buNone/>
            </a:pPr>
            <a:br>
              <a:rPr lang="en-US" sz="2000" dirty="0"/>
            </a:br>
            <a:br>
              <a:rPr lang="en-US" sz="2400" dirty="0"/>
            </a:br>
            <a:br>
              <a:rPr lang="en-US" sz="2400" dirty="0"/>
            </a:br>
            <a:endParaRPr lang="en-US" sz="2400" dirty="0"/>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6" name="Slide Number Placeholder 5"/>
          <p:cNvSpPr>
            <a:spLocks noGrp="1"/>
          </p:cNvSpPr>
          <p:nvPr>
            <p:ph type="sldNum" sz="quarter" idx="12"/>
          </p:nvPr>
        </p:nvSpPr>
        <p:spPr/>
        <p:txBody>
          <a:bodyPr/>
          <a:lstStyle/>
          <a:p>
            <a:fld id="{B1FC6276-0AD7-4494-991C-684D36EA0CC2}" type="slidenum">
              <a:rPr lang="en-US" smtClean="0"/>
              <a:pPr/>
              <a:t>10</a:t>
            </a:fld>
            <a:endParaRPr lang="en-US"/>
          </a:p>
        </p:txBody>
      </p:sp>
      <p:sp>
        <p:nvSpPr>
          <p:cNvPr id="7" name="Content Placeholder 2"/>
          <p:cNvSpPr txBox="1">
            <a:spLocks/>
          </p:cNvSpPr>
          <p:nvPr/>
        </p:nvSpPr>
        <p:spPr>
          <a:xfrm>
            <a:off x="539552" y="1484784"/>
            <a:ext cx="8352928" cy="5373216"/>
          </a:xfrm>
          <a:prstGeom prst="rect">
            <a:avLst/>
          </a:prstGeom>
        </p:spPr>
        <p:txBody>
          <a:bodyPr vert="horz" lIns="91440" tIns="45720" rIns="91440" bIns="45720" rtlCol="0">
            <a:normAutofit/>
          </a:bodyPr>
          <a:lstStyle/>
          <a:p>
            <a:pPr marL="342900" lvl="0" indent="-342900">
              <a:spcBef>
                <a:spcPct val="20000"/>
              </a:spcBef>
              <a:buFont typeface="Arial" pitchFamily="34" charset="0"/>
              <a:buChar char="•"/>
            </a:pPr>
            <a:r>
              <a:rPr lang="en-US" sz="2000" b="1" dirty="0"/>
              <a:t> Answer Grading</a:t>
            </a:r>
            <a:br>
              <a:rPr lang="en-US" sz="2000" b="1" dirty="0"/>
            </a:br>
            <a:r>
              <a:rPr lang="en-US" sz="2000" dirty="0"/>
              <a:t>Compare detected answers against expected answers, evaluating correctness based on pixel counts and determining grading.</a:t>
            </a:r>
          </a:p>
          <a:p>
            <a:pPr marL="342900" lvl="0" indent="-342900">
              <a:spcBef>
                <a:spcPct val="20000"/>
              </a:spcBef>
              <a:buFont typeface="Arial" pitchFamily="34" charset="0"/>
              <a:buChar char="•"/>
            </a:pPr>
            <a:endParaRPr lang="en-US" sz="2000" dirty="0"/>
          </a:p>
          <a:p>
            <a:pPr marL="342900" lvl="0" indent="-342900">
              <a:spcBef>
                <a:spcPct val="20000"/>
              </a:spcBef>
              <a:buFont typeface="Arial" pitchFamily="34" charset="0"/>
              <a:buChar char="•"/>
            </a:pPr>
            <a:r>
              <a:rPr lang="en-US" sz="2000" b="1" dirty="0"/>
              <a:t>Scoring and Output</a:t>
            </a:r>
            <a:br>
              <a:rPr lang="en-US" sz="2000" dirty="0"/>
            </a:br>
            <a:r>
              <a:rPr lang="en-US" sz="2000" dirty="0"/>
              <a:t>Compute the score based on the number of correctly identified answers relative to the total number of questions. </a:t>
            </a:r>
            <a:br>
              <a:rPr lang="en-US" sz="2000" dirty="0"/>
            </a:br>
            <a:br>
              <a:rPr kumimoji="0" lang="en-US" sz="2000" b="0" i="0" u="none" strike="noStrike" kern="1200" cap="none" spc="0" normalizeH="0" baseline="0" noProof="0" dirty="0">
                <a:ln>
                  <a:noFill/>
                </a:ln>
                <a:solidFill>
                  <a:schemeClr val="tx1"/>
                </a:solidFill>
                <a:effectLst/>
                <a:uLnTx/>
                <a:uFillTx/>
                <a:latin typeface="+mn-lt"/>
                <a:ea typeface="+mn-ea"/>
                <a:cs typeface="+mn-cs"/>
              </a:rPr>
            </a:br>
            <a:br>
              <a:rPr kumimoji="0" lang="en-US" sz="2400" b="0" i="0" u="none" strike="noStrike" kern="1200" cap="none" spc="0" normalizeH="0" baseline="0" noProof="0" dirty="0">
                <a:ln>
                  <a:noFill/>
                </a:ln>
                <a:solidFill>
                  <a:schemeClr val="tx1"/>
                </a:solidFill>
                <a:effectLst/>
                <a:uLnTx/>
                <a:uFillTx/>
                <a:latin typeface="+mn-lt"/>
                <a:ea typeface="+mn-ea"/>
                <a:cs typeface="+mn-cs"/>
              </a:rPr>
            </a:br>
            <a:br>
              <a:rPr kumimoji="0" lang="en-US" sz="2400" b="0" i="0" u="none" strike="noStrike" kern="1200" cap="none" spc="0" normalizeH="0" baseline="0" noProof="0" dirty="0">
                <a:ln>
                  <a:noFill/>
                </a:ln>
                <a:solidFill>
                  <a:schemeClr val="tx1"/>
                </a:solidFill>
                <a:effectLst/>
                <a:uLnTx/>
                <a:uFillTx/>
                <a:latin typeface="+mn-lt"/>
                <a:ea typeface="+mn-ea"/>
                <a:cs typeface="+mn-cs"/>
              </a:rPr>
            </a:b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algn="l"/>
            <a:r>
              <a:rPr lang="en-US" sz="3200" dirty="0">
                <a:solidFill>
                  <a:srgbClr val="1557FF"/>
                </a:solidFill>
                <a:latin typeface="Archivo Black"/>
                <a:sym typeface="Archivo Black"/>
              </a:rPr>
              <a:t>Final Score Prediction</a:t>
            </a:r>
            <a:endParaRPr lang="en-US" sz="3200" dirty="0"/>
          </a:p>
        </p:txBody>
      </p:sp>
      <p:sp>
        <p:nvSpPr>
          <p:cNvPr id="3" name="Content Placeholder 2"/>
          <p:cNvSpPr>
            <a:spLocks noGrp="1"/>
          </p:cNvSpPr>
          <p:nvPr>
            <p:ph idx="1"/>
          </p:nvPr>
        </p:nvSpPr>
        <p:spPr>
          <a:xfrm>
            <a:off x="395536" y="1556792"/>
            <a:ext cx="8352928" cy="5301208"/>
          </a:xfrm>
        </p:spPr>
        <p:txBody>
          <a:bodyPr>
            <a:normAutofit/>
          </a:bodyPr>
          <a:lstStyle/>
          <a:p>
            <a:r>
              <a:rPr lang="en-US" sz="2400" dirty="0"/>
              <a:t>We compute the average of the OMR score with the handwritten text score to predict the final results. </a:t>
            </a:r>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5" name="Slide Number Placeholder 4"/>
          <p:cNvSpPr>
            <a:spLocks noGrp="1"/>
          </p:cNvSpPr>
          <p:nvPr>
            <p:ph type="sldNum" sz="quarter" idx="12"/>
          </p:nvPr>
        </p:nvSpPr>
        <p:spPr/>
        <p:txBody>
          <a:bodyPr/>
          <a:lstStyle/>
          <a:p>
            <a:fld id="{B1FC6276-0AD7-4494-991C-684D36EA0CC2}" type="slidenum">
              <a:rPr lang="en-US" smtClean="0"/>
              <a:pPr/>
              <a:t>11</a:t>
            </a:fld>
            <a:endParaRPr lang="en-US"/>
          </a:p>
        </p:txBody>
      </p:sp>
      <p:pic>
        <p:nvPicPr>
          <p:cNvPr id="6" name="Picture 5" descr="1.jpeg"/>
          <p:cNvPicPr>
            <a:picLocks noChangeAspect="1"/>
          </p:cNvPicPr>
          <p:nvPr/>
        </p:nvPicPr>
        <p:blipFill>
          <a:blip r:embed="rId3" cstate="print"/>
          <a:stretch>
            <a:fillRect/>
          </a:stretch>
        </p:blipFill>
        <p:spPr>
          <a:xfrm>
            <a:off x="4291789" y="2348880"/>
            <a:ext cx="4852211" cy="40324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143000"/>
          </a:xfrm>
        </p:spPr>
        <p:txBody>
          <a:bodyPr>
            <a:normAutofit/>
          </a:bodyPr>
          <a:lstStyle/>
          <a:p>
            <a:pPr algn="l"/>
            <a:r>
              <a:rPr lang="en-US" sz="3200" dirty="0">
                <a:solidFill>
                  <a:srgbClr val="1557FF"/>
                </a:solidFill>
                <a:latin typeface="Archivo Black"/>
                <a:sym typeface="Archivo Black"/>
              </a:rPr>
              <a:t>References</a:t>
            </a:r>
            <a:endParaRPr lang="en-US" sz="3200" dirty="0"/>
          </a:p>
        </p:txBody>
      </p:sp>
      <p:sp>
        <p:nvSpPr>
          <p:cNvPr id="3" name="Content Placeholder 2"/>
          <p:cNvSpPr>
            <a:spLocks noGrp="1"/>
          </p:cNvSpPr>
          <p:nvPr>
            <p:ph idx="1"/>
          </p:nvPr>
        </p:nvSpPr>
        <p:spPr>
          <a:xfrm>
            <a:off x="395536" y="1556792"/>
            <a:ext cx="8352928" cy="5301208"/>
          </a:xfrm>
        </p:spPr>
        <p:txBody>
          <a:bodyPr>
            <a:normAutofit/>
          </a:bodyPr>
          <a:lstStyle/>
          <a:p>
            <a:r>
              <a:rPr lang="en-US" sz="2400" dirty="0"/>
              <a:t> </a:t>
            </a:r>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5" name="Slide Number Placeholder 4"/>
          <p:cNvSpPr>
            <a:spLocks noGrp="1"/>
          </p:cNvSpPr>
          <p:nvPr>
            <p:ph type="sldNum" sz="quarter" idx="12"/>
          </p:nvPr>
        </p:nvSpPr>
        <p:spPr/>
        <p:txBody>
          <a:bodyPr/>
          <a:lstStyle/>
          <a:p>
            <a:fld id="{B1FC6276-0AD7-4494-991C-684D36EA0CC2}"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2420888"/>
            <a:ext cx="7772400" cy="1470025"/>
          </a:xfrm>
        </p:spPr>
        <p:txBody>
          <a:bodyPr/>
          <a:lstStyle/>
          <a:p>
            <a:pPr lvl="0"/>
            <a:r>
              <a:rPr lang="en-US" dirty="0">
                <a:solidFill>
                  <a:srgbClr val="1557FF"/>
                </a:solidFill>
                <a:latin typeface="Archivo Black"/>
                <a:sym typeface="Archivo Black"/>
              </a:rPr>
              <a:t>Thank you!!</a:t>
            </a:r>
            <a:endParaRPr lang="en-US" dirty="0"/>
          </a:p>
        </p:txBody>
      </p:sp>
      <p:pic>
        <p:nvPicPr>
          <p:cNvPr id="4" name="Picture 3" descr="OIP.jpeg"/>
          <p:cNvPicPr>
            <a:picLocks noChangeAspect="1"/>
          </p:cNvPicPr>
          <p:nvPr/>
        </p:nvPicPr>
        <p:blipFill>
          <a:blip r:embed="rId2" cstate="print"/>
          <a:stretch>
            <a:fillRect/>
          </a:stretch>
        </p:blipFill>
        <p:spPr>
          <a:xfrm>
            <a:off x="6381750" y="0"/>
            <a:ext cx="2762250" cy="857250"/>
          </a:xfrm>
          <a:prstGeom prst="rect">
            <a:avLst/>
          </a:prstGeom>
        </p:spPr>
      </p:pic>
      <p:sp>
        <p:nvSpPr>
          <p:cNvPr id="3" name="Slide Number Placeholder 2"/>
          <p:cNvSpPr>
            <a:spLocks noGrp="1"/>
          </p:cNvSpPr>
          <p:nvPr>
            <p:ph type="sldNum" sz="quarter" idx="12"/>
          </p:nvPr>
        </p:nvSpPr>
        <p:spPr/>
        <p:txBody>
          <a:bodyPr/>
          <a:lstStyle/>
          <a:p>
            <a:fld id="{B1FC6276-0AD7-4494-991C-684D36EA0CC2}" type="slidenum">
              <a:rPr lang="en-US" smtClean="0"/>
              <a:pPr/>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7780</TotalTime>
  <Words>841</Words>
  <Application>Microsoft Office PowerPoint</Application>
  <PresentationFormat>On-screen Show (4:3)</PresentationFormat>
  <Paragraphs>67</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Archivo Black</vt:lpstr>
      <vt:lpstr>Arial</vt:lpstr>
      <vt:lpstr>Calibri</vt:lpstr>
      <vt:lpstr>Office Theme</vt:lpstr>
      <vt:lpstr> Automated Grading  System of OMR &amp; Handwritten Text</vt:lpstr>
      <vt:lpstr>Introduction</vt:lpstr>
      <vt:lpstr>Motivation</vt:lpstr>
      <vt:lpstr>Streamlit Integration</vt:lpstr>
      <vt:lpstr>AsposeOCR</vt:lpstr>
      <vt:lpstr>Generate text embeddings  with BERT</vt:lpstr>
      <vt:lpstr>Cosine similarity </vt:lpstr>
      <vt:lpstr>OpenCV Usage &amp; Processes  involved for OMR </vt:lpstr>
      <vt:lpstr>OpenCV Usage &amp; Processes  involved for OMR </vt:lpstr>
      <vt:lpstr>OpenCV Usage &amp; Processes  involved for OMR </vt:lpstr>
      <vt:lpstr>Final Score Prediction</vt:lpstr>
      <vt:lpstr>References</vt:lpstr>
      <vt:lpstr>Thank you!!</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ChatGPT et al.: Generative AI with Transformers</dc:title>
  <dc:creator>hp</dc:creator>
  <cp:lastModifiedBy>DARSHAN Hassan Shivakumar</cp:lastModifiedBy>
  <cp:revision>192</cp:revision>
  <dcterms:created xsi:type="dcterms:W3CDTF">2024-06-28T08:06:54Z</dcterms:created>
  <dcterms:modified xsi:type="dcterms:W3CDTF">2025-12-18T14:31:01Z</dcterms:modified>
</cp:coreProperties>
</file>